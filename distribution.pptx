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Outfit Extra Bold"/>
      <p:regular r:id="rId8"/>
    </p:embeddedFont>
    <p:embeddedFont>
      <p:font typeface="Arimo"/>
      <p:regular r:id="rId9"/>
    </p:embeddedFont>
    <p:embeddedFont>
      <p:font typeface="Arimo"/>
      <p:regular r:id="rId10"/>
    </p:embeddedFont>
    <p:embeddedFont>
      <p:font typeface="Arimo"/>
      <p:regular r:id="rId11"/>
    </p:embeddedFont>
    <p:embeddedFont>
      <p:font typeface="Arimo"/>
      <p:regular r:id="rId1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1063" y="494467"/>
            <a:ext cx="6228159" cy="409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Three Markets. One Platform. Clear ROI.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791063" y="1055727"/>
            <a:ext cx="9048274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Priced below the cost of one wrong pesticide treatment — built to serve farmers, cooperatives, and governments.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91063" y="1314093"/>
            <a:ext cx="1643777" cy="210979"/>
          </a:xfrm>
          <a:prstGeom prst="roundRect">
            <a:avLst>
              <a:gd name="adj" fmla="val 20884"/>
            </a:avLst>
          </a:prstGeom>
          <a:solidFill>
            <a:srgbClr val="D7D2F9"/>
          </a:solidFill>
          <a:ln/>
        </p:spPr>
      </p:sp>
      <p:sp>
        <p:nvSpPr>
          <p:cNvPr id="5" name="Text 3"/>
          <p:cNvSpPr/>
          <p:nvPr/>
        </p:nvSpPr>
        <p:spPr>
          <a:xfrm>
            <a:off x="2869644" y="1353383"/>
            <a:ext cx="1486614" cy="13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B2C — INDIVIDUAL FARMERS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00324" y="1306473"/>
            <a:ext cx="2260759" cy="226219"/>
          </a:xfrm>
          <a:prstGeom prst="roundRect">
            <a:avLst>
              <a:gd name="adj" fmla="val 19477"/>
            </a:avLst>
          </a:prstGeom>
          <a:noFill/>
          <a:ln w="7620">
            <a:solidFill>
              <a:srgbClr val="5E4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86526" y="1353383"/>
            <a:ext cx="2088356" cy="13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B2B — COOPERATIVES &amp; AGRIBUSINESS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26568" y="1306473"/>
            <a:ext cx="1730812" cy="226219"/>
          </a:xfrm>
          <a:prstGeom prst="roundRect">
            <a:avLst>
              <a:gd name="adj" fmla="val 19477"/>
            </a:avLst>
          </a:prstGeom>
          <a:noFill/>
          <a:ln w="7620">
            <a:solidFill>
              <a:srgbClr val="5E4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2769" y="1353383"/>
            <a:ext cx="1558409" cy="13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B2G — GOVERNMENT &amp; NGOS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91063" y="1617940"/>
            <a:ext cx="2965609" cy="4574381"/>
          </a:xfrm>
          <a:prstGeom prst="roundRect">
            <a:avLst>
              <a:gd name="adj" fmla="val 2467"/>
            </a:avLst>
          </a:prstGeom>
          <a:solidFill>
            <a:srgbClr val="FAFAFA">
              <a:alpha val="95000"/>
            </a:srgbClr>
          </a:solidFill>
          <a:ln w="15240">
            <a:solidFill>
              <a:srgbClr val="BDB8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5823" y="1617940"/>
            <a:ext cx="60960" cy="4574381"/>
          </a:xfrm>
          <a:prstGeom prst="roundRect">
            <a:avLst>
              <a:gd name="adj" fmla="val 90349"/>
            </a:avLst>
          </a:prstGeom>
          <a:solidFill>
            <a:srgbClr val="5E4CE6"/>
          </a:solidFill>
          <a:ln/>
        </p:spPr>
      </p:sp>
      <p:sp>
        <p:nvSpPr>
          <p:cNvPr id="12" name="Shape 10"/>
          <p:cNvSpPr/>
          <p:nvPr/>
        </p:nvSpPr>
        <p:spPr>
          <a:xfrm>
            <a:off x="2983111" y="1764268"/>
            <a:ext cx="360998" cy="210979"/>
          </a:xfrm>
          <a:prstGeom prst="roundRect">
            <a:avLst>
              <a:gd name="adj" fmla="val 20884"/>
            </a:avLst>
          </a:prstGeom>
          <a:solidFill>
            <a:srgbClr val="D7D2F9"/>
          </a:solidFill>
          <a:ln/>
        </p:spPr>
      </p:sp>
      <p:sp>
        <p:nvSpPr>
          <p:cNvPr id="13" name="Text 11"/>
          <p:cNvSpPr/>
          <p:nvPr/>
        </p:nvSpPr>
        <p:spPr>
          <a:xfrm>
            <a:off x="3061692" y="1803559"/>
            <a:ext cx="203835" cy="13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B2C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83111" y="2005489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Free + Pro Farmer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83111" y="2255877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Free · 0 DZD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83111" y="2466856"/>
            <a:ext cx="2627233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AI chat, disease diagnosis, crop sheets, map, calculator, community gallery, basic offline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83111" y="3008828"/>
            <a:ext cx="2627233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❌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Voice, XAI overlay, reports, journal sync, full offline, weather alerts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83111" y="3457813"/>
            <a:ext cx="2627233" cy="9763"/>
          </a:xfrm>
          <a:prstGeom prst="rect">
            <a:avLst/>
          </a:prstGeom>
          <a:solidFill>
            <a:srgbClr val="2A2742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983111" y="3585567"/>
            <a:ext cx="2627233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 Farmer ·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3,999 DZD/month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5E4CE6"/>
                </a:highlight>
                <a:latin typeface="Arimo" pitchFamily="34" charset="0"/>
                <a:ea typeface="Arimo" pitchFamily="34" charset="-122"/>
                <a:cs typeface="Arimo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83111" y="3962043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Everything in Free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83111" y="4173022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XAI overlay — visual evidence heatmap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83111" y="4384000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Voice input + AI voice responses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83111" y="4594979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Weekly PDF reports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83111" y="4805958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Journal sync + weather alerts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83111" y="5016937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Full offline dataset sync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83111" y="5227915"/>
            <a:ext cx="2627233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"Prevents one wrong treatment = pays for itself 30×"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32396" y="1617940"/>
            <a:ext cx="2965609" cy="4574381"/>
          </a:xfrm>
          <a:prstGeom prst="roundRect">
            <a:avLst>
              <a:gd name="adj" fmla="val 2467"/>
            </a:avLst>
          </a:prstGeom>
          <a:solidFill>
            <a:srgbClr val="FAFAFA">
              <a:alpha val="95000"/>
            </a:srgbClr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17156" y="1617940"/>
            <a:ext cx="60960" cy="4574381"/>
          </a:xfrm>
          <a:prstGeom prst="roundRect">
            <a:avLst>
              <a:gd name="adj" fmla="val 90349"/>
            </a:avLst>
          </a:prstGeom>
          <a:solidFill>
            <a:srgbClr val="2E7D32"/>
          </a:solidFill>
          <a:ln/>
        </p:spPr>
      </p:sp>
      <p:sp>
        <p:nvSpPr>
          <p:cNvPr id="29" name="Shape 27"/>
          <p:cNvSpPr/>
          <p:nvPr/>
        </p:nvSpPr>
        <p:spPr>
          <a:xfrm>
            <a:off x="6024443" y="1764268"/>
            <a:ext cx="355282" cy="210979"/>
          </a:xfrm>
          <a:prstGeom prst="roundRect">
            <a:avLst>
              <a:gd name="adj" fmla="val 20884"/>
            </a:avLst>
          </a:prstGeom>
          <a:solidFill>
            <a:srgbClr val="D7D2F9"/>
          </a:solidFill>
          <a:ln/>
        </p:spPr>
      </p:sp>
      <p:sp>
        <p:nvSpPr>
          <p:cNvPr id="30" name="Text 28"/>
          <p:cNvSpPr/>
          <p:nvPr/>
        </p:nvSpPr>
        <p:spPr>
          <a:xfrm>
            <a:off x="6103025" y="1803559"/>
            <a:ext cx="198120" cy="13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B2B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24443" y="2005489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Cooperative Plan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024443" y="2240637"/>
            <a:ext cx="2213253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Custom / per agreement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24443" y="2531983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Everything in Pro for all members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24443" y="2742962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Up to 10–50 member accounts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24443" y="2953941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Shared disease activity dashboard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24443" y="3164919"/>
            <a:ext cx="2627233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Aggregated weekly reports across the cooperative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24443" y="3541395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Zone-level disease cluster alerts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24443" y="3752374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Admin management panel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24443" y="3963353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Onboarding session + priority support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24443" y="4246840"/>
            <a:ext cx="2627233" cy="9763"/>
          </a:xfrm>
          <a:prstGeom prst="rect">
            <a:avLst/>
          </a:prstGeom>
          <a:solidFill>
            <a:srgbClr val="2A2742">
              <a:alpha val="5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024443" y="4374594"/>
            <a:ext cx="2627233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Targets: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UNPA-affiliated cooperatives · Agri-input dealers · Agribusiness SMEs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24443" y="4751070"/>
            <a:ext cx="2627233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"One cooperative contract = 20–100 farmers activated instantly"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873728" y="1617940"/>
            <a:ext cx="2965609" cy="4574381"/>
          </a:xfrm>
          <a:prstGeom prst="roundRect">
            <a:avLst>
              <a:gd name="adj" fmla="val 2467"/>
            </a:avLst>
          </a:prstGeom>
          <a:solidFill>
            <a:srgbClr val="FAFAFA">
              <a:alpha val="95000"/>
            </a:srgbClr>
          </a:solidFill>
          <a:ln w="15240">
            <a:solidFill>
              <a:srgbClr val="1B5E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58488" y="1617940"/>
            <a:ext cx="60960" cy="4574381"/>
          </a:xfrm>
          <a:prstGeom prst="roundRect">
            <a:avLst>
              <a:gd name="adj" fmla="val 90349"/>
            </a:avLst>
          </a:prstGeom>
          <a:solidFill>
            <a:srgbClr val="1B5E20"/>
          </a:solidFill>
          <a:ln/>
        </p:spPr>
      </p:sp>
      <p:sp>
        <p:nvSpPr>
          <p:cNvPr id="45" name="Shape 43"/>
          <p:cNvSpPr/>
          <p:nvPr/>
        </p:nvSpPr>
        <p:spPr>
          <a:xfrm>
            <a:off x="9065776" y="1764268"/>
            <a:ext cx="366832" cy="210979"/>
          </a:xfrm>
          <a:prstGeom prst="roundRect">
            <a:avLst>
              <a:gd name="adj" fmla="val 20884"/>
            </a:avLst>
          </a:prstGeom>
          <a:solidFill>
            <a:srgbClr val="D7D2F9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357" y="1803559"/>
            <a:ext cx="209669" cy="13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B2G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065776" y="2005489"/>
            <a:ext cx="1894642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Enterprise / Government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065776" y="2240637"/>
            <a:ext cx="196691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Annual License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065776" y="2531983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Everything in Cooperative plan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065776" y="2742962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Unlimited user accounts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065776" y="2953941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National disease surveillance dashboard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65776" y="3164919"/>
            <a:ext cx="2627233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Regional heatmap and outbreak trend data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065776" y="3541395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Anonymized diagnosis analytics export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065776" y="3752374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White-label deployment option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065776" y="3963353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REST API access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065776" y="4174331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Custom AI fine-tuning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065776" y="4385310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Dedicated account manager + SLA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065776" y="4596289"/>
            <a:ext cx="262723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On-premise deployment option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065776" y="4879777"/>
            <a:ext cx="2627233" cy="9763"/>
          </a:xfrm>
          <a:prstGeom prst="rect">
            <a:avLst/>
          </a:prstGeom>
          <a:solidFill>
            <a:srgbClr val="2A2742">
              <a:alpha val="5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9065776" y="5007531"/>
            <a:ext cx="2627233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Targets: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Ministry of Agriculture Algeria · NGOs &amp; development programs · Agrochemical companies · Crop insurers · Research institutions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065776" y="5715000"/>
            <a:ext cx="2627233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"Turns every farmer scan into a national early-warning system"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791063" y="6343055"/>
            <a:ext cx="2952988" cy="432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1.2M</a:t>
            </a:r>
            <a:endParaRPr lang="en-US" sz="3400" dirty="0"/>
          </a:p>
        </p:txBody>
      </p:sp>
      <p:sp>
        <p:nvSpPr>
          <p:cNvPr id="63" name="Text 61"/>
          <p:cNvSpPr/>
          <p:nvPr/>
        </p:nvSpPr>
        <p:spPr>
          <a:xfrm>
            <a:off x="3447931" y="6898005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Smallholder Farms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2791063" y="7148393"/>
            <a:ext cx="2952988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 Algeria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838706" y="6343055"/>
            <a:ext cx="2952988" cy="432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60M</a:t>
            </a:r>
            <a:endParaRPr lang="en-US" sz="3400" dirty="0"/>
          </a:p>
        </p:txBody>
      </p:sp>
      <p:sp>
        <p:nvSpPr>
          <p:cNvPr id="66" name="Text 64"/>
          <p:cNvSpPr/>
          <p:nvPr/>
        </p:nvSpPr>
        <p:spPr>
          <a:xfrm>
            <a:off x="6495574" y="6898005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Agricultural Workers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5838706" y="7148393"/>
            <a:ext cx="2952988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across MENA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886349" y="6343055"/>
            <a:ext cx="2952988" cy="432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3400" dirty="0"/>
          </a:p>
        </p:txBody>
      </p:sp>
      <p:sp>
        <p:nvSpPr>
          <p:cNvPr id="69" name="Text 67"/>
          <p:cNvSpPr/>
          <p:nvPr/>
        </p:nvSpPr>
        <p:spPr>
          <a:xfrm>
            <a:off x="9543217" y="6898005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Unified Platform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8886349" y="7148393"/>
            <a:ext cx="2952988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serving farmers, cooperatives, and governments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987754" y="7484388"/>
            <a:ext cx="885158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"B2C builds the network. B2B monetizes the trust. B2G monetizes the data."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791063" y="7399139"/>
            <a:ext cx="15240" cy="335994"/>
          </a:xfrm>
          <a:prstGeom prst="rect">
            <a:avLst/>
          </a:prstGeom>
          <a:solidFill>
            <a:srgbClr val="5E4CE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2026-04-30T10:07:39Z</dcterms:created>
  <dcterms:modified xsi:type="dcterms:W3CDTF">2026-04-30T10:07:39Z</dcterms:modified>
</cp:coreProperties>
</file>