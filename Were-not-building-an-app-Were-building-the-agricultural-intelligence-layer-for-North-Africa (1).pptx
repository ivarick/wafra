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4630400" cy="8229600"/>
  <p:notesSz cx="8229600" cy="14630400"/>
  <p:embeddedFontLst>
    <p:embeddedFont>
      <p:font typeface="Outfit Extra Bold"/>
      <p:regular r:id="rId9"/>
    </p:embeddedFont>
    <p:embeddedFont>
      <p:font typeface="Arimo"/>
      <p:regular r:id="rId10"/>
    </p:embeddedFont>
    <p:embeddedFont>
      <p:font typeface="Arimo"/>
      <p:regular r:id="rId11"/>
    </p:embeddedFont>
    <p:embeddedFont>
      <p:font typeface="Arimo"/>
      <p:regular r:id="rId12"/>
    </p:embeddedFont>
    <p:embeddedFont>
      <p:font typeface="Arimo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3561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We're not building an app. We're building the </a:t>
            </a:r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52B788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agricultural intelligence layer</a:t>
            </a:r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for North Africa.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998839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Starting where the need is greatest — in the language no one else speaks, in the places no one else reaches.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979795"/>
            <a:ext cx="1414701" cy="426244"/>
          </a:xfrm>
          <a:prstGeom prst="roundRect">
            <a:avLst>
              <a:gd name="adj" fmla="val 17880"/>
            </a:avLst>
          </a:prstGeom>
          <a:solidFill>
            <a:srgbClr val="D7D2F9"/>
          </a:solidFill>
          <a:ln/>
        </p:spPr>
      </p:sp>
      <p:sp>
        <p:nvSpPr>
          <p:cNvPr id="6" name="Text 3"/>
          <p:cNvSpPr/>
          <p:nvPr/>
        </p:nvSpPr>
        <p:spPr>
          <a:xfrm>
            <a:off x="929878" y="6047780"/>
            <a:ext cx="114252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WAFRA · وافرة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12846" y="3064788"/>
            <a:ext cx="11004590" cy="22860"/>
          </a:xfrm>
          <a:prstGeom prst="roundRect">
            <a:avLst>
              <a:gd name="adj" fmla="val 293023"/>
            </a:avLst>
          </a:prstGeom>
          <a:solidFill>
            <a:srgbClr val="BDB8DF"/>
          </a:solidFill>
          <a:ln/>
        </p:spPr>
      </p:sp>
      <p:sp>
        <p:nvSpPr>
          <p:cNvPr id="3" name="Shape 1"/>
          <p:cNvSpPr/>
          <p:nvPr/>
        </p:nvSpPr>
        <p:spPr>
          <a:xfrm>
            <a:off x="4517469" y="2745879"/>
            <a:ext cx="22860" cy="318968"/>
          </a:xfrm>
          <a:prstGeom prst="roundRect">
            <a:avLst>
              <a:gd name="adj" fmla="val 293023"/>
            </a:avLst>
          </a:prstGeom>
          <a:solidFill>
            <a:srgbClr val="BDB8DF"/>
          </a:solidFill>
          <a:ln/>
        </p:spPr>
      </p:sp>
      <p:sp>
        <p:nvSpPr>
          <p:cNvPr id="4" name="Shape 2"/>
          <p:cNvSpPr/>
          <p:nvPr/>
        </p:nvSpPr>
        <p:spPr>
          <a:xfrm>
            <a:off x="4469130" y="3004959"/>
            <a:ext cx="119539" cy="119539"/>
          </a:xfrm>
          <a:prstGeom prst="roundRect">
            <a:avLst>
              <a:gd name="adj" fmla="val 382469"/>
            </a:avLst>
          </a:prstGeom>
          <a:solidFill>
            <a:srgbClr val="5E4CE6"/>
          </a:solidFill>
          <a:ln/>
        </p:spPr>
      </p:sp>
      <p:sp>
        <p:nvSpPr>
          <p:cNvPr id="5" name="Text 3"/>
          <p:cNvSpPr/>
          <p:nvPr/>
        </p:nvSpPr>
        <p:spPr>
          <a:xfrm>
            <a:off x="3532108" y="485894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Year 1 · Establish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972270" y="802243"/>
            <a:ext cx="511337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🇩🇿</a:t>
            </a:r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Algeria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972270" y="1086803"/>
            <a:ext cx="5113377" cy="124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10,000 users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500 Pro subscribers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5–10 cooperative contracts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Ministry of Agriculture MOU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$21K ARR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03651" y="3064728"/>
            <a:ext cx="22860" cy="318968"/>
          </a:xfrm>
          <a:prstGeom prst="roundRect">
            <a:avLst>
              <a:gd name="adj" fmla="val 293023"/>
            </a:avLst>
          </a:prstGeom>
          <a:solidFill>
            <a:srgbClr val="BDB8DF"/>
          </a:solidFill>
          <a:ln/>
        </p:spPr>
      </p:sp>
      <p:sp>
        <p:nvSpPr>
          <p:cNvPr id="9" name="Shape 7"/>
          <p:cNvSpPr/>
          <p:nvPr/>
        </p:nvSpPr>
        <p:spPr>
          <a:xfrm>
            <a:off x="7255312" y="3004959"/>
            <a:ext cx="119539" cy="119539"/>
          </a:xfrm>
          <a:prstGeom prst="roundRect">
            <a:avLst>
              <a:gd name="adj" fmla="val 382469"/>
            </a:avLst>
          </a:prstGeom>
          <a:solidFill>
            <a:srgbClr val="5E4CE6"/>
          </a:solidFill>
          <a:ln/>
        </p:spPr>
      </p:sp>
      <p:sp>
        <p:nvSpPr>
          <p:cNvPr id="10" name="Text 8"/>
          <p:cNvSpPr/>
          <p:nvPr/>
        </p:nvSpPr>
        <p:spPr>
          <a:xfrm>
            <a:off x="6318290" y="3543181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Year 2 · Grow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758452" y="3859530"/>
            <a:ext cx="511337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🇹🇳</a:t>
            </a:r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</a:t>
            </a:r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🇲🇦</a:t>
            </a:r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MENA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58452" y="4144089"/>
            <a:ext cx="5113377" cy="1243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80,000 users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4,000 Pro subscribers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Seed funding round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Telecom data bundle live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$200K ARR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089833" y="2745879"/>
            <a:ext cx="22860" cy="318968"/>
          </a:xfrm>
          <a:prstGeom prst="roundRect">
            <a:avLst>
              <a:gd name="adj" fmla="val 293023"/>
            </a:avLst>
          </a:prstGeom>
          <a:solidFill>
            <a:srgbClr val="BDB8D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041493" y="3004959"/>
            <a:ext cx="119539" cy="119539"/>
          </a:xfrm>
          <a:prstGeom prst="roundRect">
            <a:avLst>
              <a:gd name="adj" fmla="val 382469"/>
            </a:avLst>
          </a:prstGeom>
          <a:solidFill>
            <a:srgbClr val="5E4CE6"/>
          </a:solidFill>
          <a:ln/>
        </p:spPr>
      </p:sp>
      <p:sp>
        <p:nvSpPr>
          <p:cNvPr id="15" name="Text 13"/>
          <p:cNvSpPr/>
          <p:nvPr/>
        </p:nvSpPr>
        <p:spPr>
          <a:xfrm>
            <a:off x="9104471" y="485894"/>
            <a:ext cx="1993583" cy="249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Year 3 · Scale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44633" y="802243"/>
            <a:ext cx="511337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🌍</a:t>
            </a:r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Region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544633" y="1086803"/>
            <a:ext cx="5113377" cy="1499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400,000 users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20,000 Pro subscribers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6 countries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National disease surveillance platform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Series A $3–5M target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$1.2M ARR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052042" y="5639395"/>
            <a:ext cx="10765393" cy="4345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"Every time a farmer scans a leaf, Wafra learns. The more farmers use it, the smarter it gets. The smarter it gets, the more farmers trust it. Darija + offline + community data = a moat no competitor can buy."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812846" y="5513308"/>
            <a:ext cx="22860" cy="686752"/>
          </a:xfrm>
          <a:prstGeom prst="rect">
            <a:avLst/>
          </a:prstGeom>
          <a:solidFill>
            <a:srgbClr val="5E4CE6"/>
          </a:solidFill>
          <a:ln/>
        </p:spPr>
      </p:sp>
      <p:sp>
        <p:nvSpPr>
          <p:cNvPr id="20" name="Text 18"/>
          <p:cNvSpPr/>
          <p:nvPr/>
        </p:nvSpPr>
        <p:spPr>
          <a:xfrm>
            <a:off x="1812846" y="6368177"/>
            <a:ext cx="11004590" cy="137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Wafra. وافرة. Abundance — for every farmer who deserves a better harvest.</a:t>
            </a:r>
            <a:endParaRPr lang="en-US" sz="4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2026-04-30T09:58:01Z</dcterms:created>
  <dcterms:modified xsi:type="dcterms:W3CDTF">2026-04-30T09:58:01Z</dcterms:modified>
</cp:coreProperties>
</file>